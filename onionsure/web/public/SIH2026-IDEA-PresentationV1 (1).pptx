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200" u="sng" kumimoji="0" normalizeH="0">
        <a:ln>
          <a:noFill/>
        </a:ln>
        <a:solidFill>
          <a:srgbClr val="1F497D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308744" y="6404295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b="0" sz="1200" u="none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0" sz="1800" u="none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" name="Freeform: Shape 26"/>
          <p:cNvSpPr/>
          <p:nvPr/>
        </p:nvSpPr>
        <p:spPr>
          <a:xfrm>
            <a:off x="5656780" y="851520"/>
            <a:ext cx="4638605" cy="5154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fill="norm" stroke="1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b="0" sz="1800" u="none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0" r="59916" b="0"/>
          <a:stretch>
            <a:fillRect/>
          </a:stretch>
        </p:blipFill>
        <p:spPr>
          <a:xfrm>
            <a:off x="6954761" y="1898976"/>
            <a:ext cx="3203510" cy="3426238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/>
          <p:nvPr>
            <p:ph type="subTitle" sz="quarter" idx="1"/>
          </p:nvPr>
        </p:nvSpPr>
        <p:spPr>
          <a:xfrm>
            <a:off x="1245685" y="648613"/>
            <a:ext cx="8534401" cy="1752601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TITLE PAGE</a:t>
            </a:r>
          </a:p>
        </p:txBody>
      </p:sp>
      <p:sp>
        <p:nvSpPr>
          <p:cNvPr id="98" name="Title 7"/>
          <p:cNvSpPr txBox="1"/>
          <p:nvPr>
            <p:ph type="ctrTitle"/>
          </p:nvPr>
        </p:nvSpPr>
        <p:spPr>
          <a:xfrm>
            <a:off x="331286" y="-5267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r>
              <a:t>SMART INDIA HACKATHON 2026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377006" y="2076450"/>
            <a:ext cx="5833110" cy="4413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/>
            </a:pPr>
            <a:r>
              <a:t>Problem Statement ID –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/>
            </a:pPr>
            <a:r>
              <a:t>Problem Statement Title-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/>
            </a:pPr>
            <a:r>
              <a:t>Theme-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/>
            </a:pPr>
            <a: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/>
            </a:pPr>
            <a:r>
              <a:t>Team ID-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/>
            </a:pPr>
            <a:r>
              <a:t>Team Name (Registered on portal)</a:t>
            </a:r>
          </a:p>
        </p:txBody>
      </p:sp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6"/>
          <p:cNvSpPr txBox="1"/>
          <p:nvPr/>
        </p:nvSpPr>
        <p:spPr>
          <a:xfrm>
            <a:off x="4693920" y="6404295"/>
            <a:ext cx="31125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03" name="Rectangle 8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 b="0" sz="1800" u="none">
                <a:solidFill>
                  <a:srgbClr val="953735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" name="Title 1"/>
          <p:cNvSpPr txBox="1"/>
          <p:nvPr>
            <p:ph type="title"/>
          </p:nvPr>
        </p:nvSpPr>
        <p:spPr>
          <a:xfrm>
            <a:off x="763800" y="-255258"/>
            <a:ext cx="10972801" cy="1143001"/>
          </a:xfrm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FarmLink</a:t>
            </a:r>
          </a:p>
        </p:txBody>
      </p:sp>
      <p:sp>
        <p:nvSpPr>
          <p:cNvPr id="105" name="TextBox 8"/>
          <p:cNvSpPr txBox="1"/>
          <p:nvPr/>
        </p:nvSpPr>
        <p:spPr>
          <a:xfrm>
            <a:off x="163011" y="840827"/>
            <a:ext cx="5600962" cy="671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60000"/>
              </a:lnSpc>
              <a:spcBef>
                <a:spcPts val="1000"/>
              </a:spcBef>
              <a:buSzPct val="100000"/>
              <a:buChar char="❖"/>
            </a:pPr>
            <a:r>
              <a:t>The Problem &amp; The Gap</a:t>
            </a:r>
          </a:p>
          <a:p>
            <a:pPr>
              <a:lnSpc>
                <a:spcPct val="60000"/>
              </a:lnSpc>
              <a:spcBef>
                <a:spcPts val="1000"/>
              </a:spcBef>
            </a:pPr>
            <a:endParaRPr>
              <a:solidFill>
                <a:srgbClr val="000000"/>
              </a:solidFill>
            </a:endParaRPr>
          </a:p>
          <a:p>
            <a:pPr algn="just">
              <a:spcBef>
                <a:spcPts val="100"/>
              </a:spcBef>
              <a:defRPr b="0" sz="1600" u="none">
                <a:solidFill>
                  <a:srgbClr val="F9FAF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</a:t>
            </a:r>
            <a:r>
              <a:rPr>
                <a:solidFill>
                  <a:srgbClr val="000000"/>
                </a:solidFill>
              </a:rPr>
              <a:t> A tomato farmer in a small village spends three hours just to reach the nearest mandi</a:t>
            </a:r>
            <a:endParaRPr>
              <a:solidFill>
                <a:srgbClr val="000000"/>
              </a:solidFill>
            </a:endParaRP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No phone app tells him what his produce is worth before he harvests</a:t>
            </a: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By the time he finds out market prices, half his tomatoes are already spoiling in the sun</a:t>
            </a: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30 to 60 percent of what the consumer pays never reaches the farmer — it vanishes through layers of middlemen</a:t>
            </a: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eNAM, Ninjacart, and DeHaat are real platforms with real scale</a:t>
            </a: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But none of them reach Sampadrao's village — they're built for traders near cities, not for smallholders in remote blocks</a:t>
            </a: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Farmers need WhatsApp, not another heavy app that crashes on patchy data connections</a:t>
            </a: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Individual smallholders can't command marketable volumes without pooling through FPOs</a:t>
            </a:r>
          </a:p>
          <a:p>
            <a:pPr algn="just"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The digital agriculture revolution has left the smallest producers exactly where they were</a:t>
            </a:r>
          </a:p>
          <a:p>
            <a:pPr>
              <a:spcBef>
                <a:spcPts val="100"/>
              </a:spcBef>
              <a:defRPr b="0" sz="14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100"/>
              </a:spcBef>
              <a:defRPr b="0" sz="14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1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160421" indent="-160421">
              <a:spcBef>
                <a:spcPts val="700"/>
              </a:spcBef>
              <a:buSzPct val="100000"/>
              <a:buChar char="•"/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06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0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0793" y="1198580"/>
            <a:ext cx="6181449" cy="44608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ooter Placeholder 6"/>
          <p:cNvSpPr txBox="1"/>
          <p:nvPr/>
        </p:nvSpPr>
        <p:spPr>
          <a:xfrm>
            <a:off x="4693920" y="6404295"/>
            <a:ext cx="31125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11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 b="0" sz="1800" u="none">
                <a:solidFill>
                  <a:srgbClr val="953735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2" name="Title 1"/>
          <p:cNvSpPr txBox="1"/>
          <p:nvPr>
            <p:ph type="title"/>
          </p:nvPr>
        </p:nvSpPr>
        <p:spPr>
          <a:xfrm>
            <a:off x="-2304938" y="734858"/>
            <a:ext cx="10972801" cy="1143001"/>
          </a:xfrm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Our Solution &amp; Its Uniqueness</a:t>
            </a:r>
          </a:p>
        </p:txBody>
      </p:sp>
      <p:sp>
        <p:nvSpPr>
          <p:cNvPr id="113" name="TextBox 8"/>
          <p:cNvSpPr txBox="1"/>
          <p:nvPr/>
        </p:nvSpPr>
        <p:spPr>
          <a:xfrm>
            <a:off x="306182" y="1725662"/>
            <a:ext cx="5750561" cy="4273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Farmlink is a hyperlocal marketplace that aggregates FPO produce and connects farmers directly with bulk buyers</a:t>
            </a:r>
          </a:p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We forecast demand and route pickups based on how quickly each crop spoils</a:t>
            </a:r>
          </a:p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Farmers already use WhatsApp — we meet them there, no new app to download or learn</a:t>
            </a:r>
          </a:p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We don't compete on scale — we serve the district-level farmers that national platforms structurally cannot reach</a:t>
            </a:r>
          </a:p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eNAM works for traders at mandis, Ninjacart serves urban-adjacent farmers — Sampadrao is three hours from the nearest city</a:t>
            </a:r>
          </a:p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Our routing optimizes for perishability first, not just shortest distance</a:t>
            </a:r>
          </a:p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We're built around FPOs because aggregation is the only way smallholders get market power</a:t>
            </a:r>
          </a:p>
          <a:p>
            <a:pPr algn="just">
              <a:spcBef>
                <a:spcPts val="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The platforms that exist weren't designed for people like Sampadrao — we were</a:t>
            </a:r>
          </a:p>
        </p:txBody>
      </p:sp>
      <p:sp>
        <p:nvSpPr>
          <p:cNvPr id="114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15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itle 1"/>
          <p:cNvSpPr txBox="1"/>
          <p:nvPr/>
        </p:nvSpPr>
        <p:spPr>
          <a:xfrm>
            <a:off x="609600" y="-211973"/>
            <a:ext cx="109728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FarmLink</a:t>
            </a:r>
          </a:p>
        </p:txBody>
      </p:sp>
      <p:graphicFrame>
        <p:nvGraphicFramePr>
          <p:cNvPr id="117" name="Table 1"/>
          <p:cNvGraphicFramePr/>
          <p:nvPr/>
        </p:nvGraphicFramePr>
        <p:xfrm>
          <a:off x="6772428" y="1160560"/>
          <a:ext cx="5038805" cy="588086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786573"/>
                <a:gridCol w="1020022"/>
                <a:gridCol w="1199485"/>
                <a:gridCol w="1277320"/>
              </a:tblGrid>
              <a:tr h="693166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Feature</a:t>
                      </a:r>
                    </a:p>
                  </a:txBody>
                  <a:tcPr marL="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eNAM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Ninjacat/DeHaat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Farmlink</a:t>
                      </a:r>
                    </a:p>
                  </a:txBody>
                  <a:tcPr marL="203200" marR="203200" marT="127000" marB="127000" anchor="ctr" anchorCtr="0" horzOverflow="overflow"/>
                </a:tc>
              </a:tr>
              <a:tr h="526874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FPO aggregation</a:t>
                      </a:r>
                    </a:p>
                  </a:txBody>
                  <a:tcPr marL="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✓</a:t>
                      </a:r>
                    </a:p>
                  </a:txBody>
                  <a:tcPr marL="203200" marR="0" marT="127000" marB="127000" anchor="ctr" anchorCtr="0" horzOverflow="overflow"/>
                </a:tc>
              </a:tr>
              <a:tr h="693166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WhatsApp-native access</a:t>
                      </a:r>
                    </a:p>
                  </a:txBody>
                  <a:tcPr marL="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✓</a:t>
                      </a:r>
                    </a:p>
                  </a:txBody>
                  <a:tcPr marL="203200" marR="0" marT="127000" marB="127000" anchor="ctr" anchorCtr="0" horzOverflow="overflow"/>
                </a:tc>
              </a:tr>
              <a:tr h="693166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Pre-sale price forecast</a:t>
                      </a:r>
                    </a:p>
                  </a:txBody>
                  <a:tcPr marL="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✓</a:t>
                      </a:r>
                    </a:p>
                  </a:txBody>
                  <a:tcPr marL="203200" marR="0" marT="127000" marB="127000" anchor="ctr" anchorCtr="0" horzOverflow="overflow"/>
                </a:tc>
              </a:tr>
              <a:tr h="693166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Perishability-weighted routing</a:t>
                      </a:r>
                    </a:p>
                  </a:txBody>
                  <a:tcPr marL="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✓</a:t>
                      </a:r>
                    </a:p>
                  </a:txBody>
                  <a:tcPr marL="203200" marR="0" marT="127000" marB="127000" anchor="ctr" anchorCtr="0" horzOverflow="overflow"/>
                </a:tc>
              </a:tr>
              <a:tr h="693166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Reaches remote smallholders</a:t>
                      </a:r>
                    </a:p>
                  </a:txBody>
                  <a:tcPr marL="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✓</a:t>
                      </a:r>
                    </a:p>
                  </a:txBody>
                  <a:tcPr marL="203200" marR="0" marT="127000" marB="127000" anchor="ctr" anchorCtr="0" horzOverflow="overflow"/>
                </a:tc>
              </a:tr>
              <a:tr h="693166"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Real-time mandi prices</a:t>
                      </a:r>
                    </a:p>
                  </a:txBody>
                  <a:tcPr marL="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✓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✗</a:t>
                      </a:r>
                    </a:p>
                  </a:txBody>
                  <a:tcPr marL="203200" marR="203200" marT="127000" marB="12700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60000"/>
                        </a:lnSpc>
                        <a:defRPr sz="1800"/>
                      </a:pPr>
                      <a:r>
                        <a:rPr>
                          <a:solidFill>
                            <a:srgbClr val="953735"/>
                          </a:solidFill>
                          <a:sym typeface="Calibri"/>
                        </a:rPr>
                        <a:t>✓</a:t>
                      </a:r>
                    </a:p>
                  </a:txBody>
                  <a:tcPr marL="203200" marR="0" marT="127000" marB="1270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20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 b="0" sz="1800" u="none">
                <a:solidFill>
                  <a:srgbClr val="953735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21" name="Title 1"/>
          <p:cNvSpPr txBox="1"/>
          <p:nvPr>
            <p:ph type="title"/>
          </p:nvPr>
        </p:nvSpPr>
        <p:spPr>
          <a:xfrm>
            <a:off x="-3026358" y="864399"/>
            <a:ext cx="10972801" cy="1143001"/>
          </a:xfrm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22" name="TextBox 8"/>
          <p:cNvSpPr txBox="1"/>
          <p:nvPr/>
        </p:nvSpPr>
        <p:spPr>
          <a:xfrm>
            <a:off x="525464" y="1985373"/>
            <a:ext cx="4216401" cy="4006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00"/>
              </a:spcBef>
              <a:defRPr b="0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FPO Aggregation pools individual farmers into marketable lots</a:t>
            </a:r>
          </a:p>
          <a:p>
            <a:pPr>
              <a:spcBef>
                <a:spcPts val="900"/>
              </a:spcBef>
              <a:defRPr b="0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Demand Forecasting uses ARIMA and XGBoost on Agmarknet data to predict prices pre-harvest</a:t>
            </a:r>
          </a:p>
          <a:p>
            <a:pPr>
              <a:spcBef>
                <a:spcPts val="900"/>
              </a:spcBef>
              <a:defRPr b="0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Route Optimization clusters pickup points and solves CVRP with perishability weighting</a:t>
            </a:r>
          </a:p>
          <a:p>
            <a:pPr>
              <a:spcBef>
                <a:spcPts val="900"/>
              </a:spcBef>
              <a:defRPr b="0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Buyer Matching connects supply lots directly with bulk buyers</a:t>
            </a:r>
          </a:p>
          <a:p>
            <a:pPr>
              <a:spcBef>
                <a:spcPts val="900"/>
              </a:spcBef>
              <a:defRPr b="0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WhatsApp Business API and UPI are external infrastructure — the four core modules are custom-built by our team</a:t>
            </a:r>
          </a:p>
        </p:txBody>
      </p:sp>
      <p:sp>
        <p:nvSpPr>
          <p:cNvPr id="123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2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itle 1"/>
          <p:cNvSpPr txBox="1"/>
          <p:nvPr/>
        </p:nvSpPr>
        <p:spPr>
          <a:xfrm>
            <a:off x="609600" y="-211973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FarmLink</a:t>
            </a:r>
          </a:p>
        </p:txBody>
      </p:sp>
      <p:pic>
        <p:nvPicPr>
          <p:cNvPr id="126" name="Image" descr="Image"/>
          <p:cNvPicPr>
            <a:picLocks noChangeAspect="1"/>
          </p:cNvPicPr>
          <p:nvPr/>
        </p:nvPicPr>
        <p:blipFill>
          <a:blip r:embed="rId3">
            <a:extLst/>
          </a:blip>
          <a:srcRect l="558" t="12159" r="558" b="1827"/>
          <a:stretch>
            <a:fillRect/>
          </a:stretch>
        </p:blipFill>
        <p:spPr>
          <a:xfrm>
            <a:off x="4505560" y="1920962"/>
            <a:ext cx="7649524" cy="37168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29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 b="0" sz="1800" u="none">
                <a:solidFill>
                  <a:srgbClr val="953735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0" name="Title 1"/>
          <p:cNvSpPr txBox="1"/>
          <p:nvPr>
            <p:ph type="title"/>
          </p:nvPr>
        </p:nvSpPr>
        <p:spPr>
          <a:xfrm>
            <a:off x="-2535792" y="803650"/>
            <a:ext cx="10972801" cy="1143001"/>
          </a:xfrm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Core Technical Innovation</a:t>
            </a:r>
          </a:p>
        </p:txBody>
      </p:sp>
      <p:sp>
        <p:nvSpPr>
          <p:cNvPr id="131" name="TextBox 8"/>
          <p:cNvSpPr txBox="1"/>
          <p:nvPr/>
        </p:nvSpPr>
        <p:spPr>
          <a:xfrm>
            <a:off x="309038" y="2043087"/>
            <a:ext cx="4025901" cy="3638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1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Forecasting: ARIMA/Prophet baseline with XGBoost stretch using lag prices, weather, and arrival volume data</a:t>
            </a:r>
          </a:p>
          <a:p>
            <a:pPr algn="just">
              <a:spcBef>
                <a:spcPts val="1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Routing: K-means clustering with OR-Tools CVRP solver — our innovation is perishability-weighted objective function</a:t>
            </a:r>
          </a:p>
          <a:p>
            <a:pPr algn="just">
              <a:spcBef>
                <a:spcPts val="1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High-spoilage crops like tomatoes get pickup priority before potatoes and grains</a:t>
            </a:r>
          </a:p>
          <a:p>
            <a:pPr algn="just">
              <a:spcBef>
                <a:spcPts val="1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Target benchmark: 5–11% reduction in delivery distance and time</a:t>
            </a:r>
          </a:p>
          <a:p>
            <a:pPr algn="just">
              <a:spcBef>
                <a:spcPts val="1600"/>
              </a:spcBef>
              <a:defRPr b="0" sz="1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• This is a modified objective function on a well-studied technique, not a claimed invention</a:t>
            </a:r>
          </a:p>
        </p:txBody>
      </p:sp>
      <p:sp>
        <p:nvSpPr>
          <p:cNvPr id="132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3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Unknown.jpeg" descr="Unknown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65318" y="1674480"/>
            <a:ext cx="7833995" cy="4376022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1"/>
          <p:cNvSpPr txBox="1"/>
          <p:nvPr/>
        </p:nvSpPr>
        <p:spPr>
          <a:xfrm>
            <a:off x="609600" y="-211973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FarmLink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6"/>
          <p:cNvSpPr txBox="1"/>
          <p:nvPr/>
        </p:nvSpPr>
        <p:spPr>
          <a:xfrm>
            <a:off x="4693920" y="6404295"/>
            <a:ext cx="31125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pPr/>
            <a:r>
              <a:t>@SIH Idea submission- Template</a:t>
            </a:r>
          </a:p>
        </p:txBody>
      </p:sp>
      <p:sp>
        <p:nvSpPr>
          <p:cNvPr id="138" name="Rectangle 9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sx="100000" sy="100000" kx="0" ky="0" algn="b" rotWithShape="0" blurRad="0" dist="23000" dir="5400000">
              <a:srgbClr val="808080">
                <a:alpha val="34999"/>
              </a:srgbClr>
            </a:outerShdw>
          </a:effectLst>
        </p:spPr>
        <p:txBody>
          <a:bodyPr lIns="45719" rIns="45719" anchor="ctr"/>
          <a:lstStyle/>
          <a:p>
            <a:pPr algn="ctr">
              <a:defRPr b="0" sz="1800" u="none">
                <a:solidFill>
                  <a:srgbClr val="953735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39" name="Title 1"/>
          <p:cNvSpPr txBox="1"/>
          <p:nvPr>
            <p:ph type="title"/>
          </p:nvPr>
        </p:nvSpPr>
        <p:spPr>
          <a:xfrm>
            <a:off x="-2353220" y="551596"/>
            <a:ext cx="10972801" cy="1143001"/>
          </a:xfrm>
          <a:prstGeom prst="rect">
            <a:avLst/>
          </a:prstGeom>
        </p:spPr>
        <p:txBody>
          <a:bodyPr/>
          <a:lstStyle>
            <a:lvl1pPr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Expected Outcomes &amp; Impact</a:t>
            </a:r>
          </a:p>
        </p:txBody>
      </p:sp>
      <p:sp>
        <p:nvSpPr>
          <p:cNvPr id="140" name="TextBox 8"/>
          <p:cNvSpPr txBox="1"/>
          <p:nvPr/>
        </p:nvSpPr>
        <p:spPr>
          <a:xfrm>
            <a:off x="220409" y="1751536"/>
            <a:ext cx="5825543" cy="383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spcBef>
                <a:spcPts val="700"/>
              </a:spcBef>
              <a:defRPr sz="1600">
                <a:solidFill>
                  <a:srgbClr val="000000"/>
                </a:solidFill>
              </a:defRPr>
            </a:pPr>
            <a:r>
              <a:t>Expected Outcomes : </a:t>
            </a:r>
          </a:p>
          <a:p>
            <a:pPr marL="160421" indent="-160421" algn="just">
              <a:spcBef>
                <a:spcPts val="300"/>
              </a:spcBef>
              <a:buSzPct val="100000"/>
              <a:buChar char="•"/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Farmer price realization: 15–20% reduction in intermediary share — from 60% loss toward 40%</a:t>
            </a:r>
          </a:p>
          <a:p>
            <a:pPr algn="just"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Routing efficiency: 5–11% reduction in delivery distance and time through perishability-weighted optimization</a:t>
            </a:r>
          </a:p>
          <a:p>
            <a:pPr algn="just"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Post-harvest loss: Perishable crops get picked up before non-perishable ones</a:t>
            </a:r>
          </a:p>
          <a:p>
            <a:pPr algn="just"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Better information means Sampadrao can decide when to sell instead of taking whatever the trader offers</a:t>
            </a:r>
          </a:p>
          <a:p>
            <a:pPr algn="just"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Faster pickup means his produce arrives fresher and commands better prices</a:t>
            </a:r>
          </a:p>
          <a:p>
            <a:pPr algn="just"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Aggregation through his FPO gives him bargaining power he never had as an individual</a:t>
            </a:r>
          </a:p>
          <a:p>
            <a:pPr algn="just"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We're not claiming he becomes rich overnight — each inefficiency gets chipped away systematically</a:t>
            </a:r>
          </a:p>
        </p:txBody>
      </p:sp>
      <p:sp>
        <p:nvSpPr>
          <p:cNvPr id="141" name="Slide Number Placeholder 5"/>
          <p:cNvSpPr txBox="1"/>
          <p:nvPr>
            <p:ph type="sldNum" sz="quarter" idx="2"/>
          </p:nvPr>
        </p:nvSpPr>
        <p:spPr>
          <a:xfrm>
            <a:off x="11393502" y="6404295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142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0085" y="1500"/>
            <a:ext cx="2249852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Impact :…"/>
          <p:cNvSpPr txBox="1"/>
          <p:nvPr/>
        </p:nvSpPr>
        <p:spPr>
          <a:xfrm>
            <a:off x="6390228" y="1751536"/>
            <a:ext cx="5168901" cy="4111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700"/>
              <a:t>Impact</a:t>
            </a:r>
            <a:r>
              <a:t> : </a:t>
            </a:r>
          </a:p>
          <a:p>
            <a:pPr>
              <a:spcBef>
                <a:spcPts val="4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Farmer income increases by 15-20% as intermediary layers get removed from the supply chain</a:t>
            </a:r>
          </a:p>
          <a:p>
            <a:pPr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Sampadrao no longer spends three hours and precious diesel money traveling to a mandi with no price guarantee</a:t>
            </a:r>
          </a:p>
          <a:p>
            <a:pPr>
              <a:spcBef>
                <a:spcPts val="3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Pre-sale price forecasts mean farmers know what their crop is worth before they harvest — not after</a:t>
            </a:r>
          </a:p>
          <a:p>
            <a:pPr>
              <a:spcBef>
                <a:spcPts val="4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Perishability-weighted routing cuts delivery time by 5-11%, saving tomatoes and leafy greens from spoiling in transit</a:t>
            </a:r>
          </a:p>
          <a:p>
            <a:pPr>
              <a:spcBef>
                <a:spcPts val="4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FPO aggregation gives smallholders collective bargaining power they never had as individuals</a:t>
            </a:r>
          </a:p>
          <a:p>
            <a:pPr>
              <a:spcBef>
                <a:spcPts val="400"/>
              </a:spcBef>
              <a:defRPr b="0" sz="16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WhatsApp access means no app download, no data-heavy interface, and no digital literacy barrier</a:t>
            </a:r>
          </a:p>
        </p:txBody>
      </p:sp>
      <p:sp>
        <p:nvSpPr>
          <p:cNvPr id="144" name="Title 1"/>
          <p:cNvSpPr txBox="1"/>
          <p:nvPr/>
        </p:nvSpPr>
        <p:spPr>
          <a:xfrm>
            <a:off x="609600" y="-211973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defRPr sz="36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FarmLink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1F497D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200" u="sng" kumimoji="0" normalizeH="0">
            <a:ln>
              <a:noFill/>
            </a:ln>
            <a:solidFill>
              <a:srgbClr val="1F497D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200" u="sng" kumimoji="0" normalizeH="0">
            <a:ln>
              <a:noFill/>
            </a:ln>
            <a:solidFill>
              <a:srgbClr val="1F497D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